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746504" cy="21762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0"/>
            <a:ext cx="15636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9E795"/>
                </a:solidFill>
              </a:defRPr>
            </a:pPr>
            <a:r>
              <a:t>Coordinating an IPO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640080"/>
            <a:ext cx="15636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 180+ task nightmare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143000"/>
            <a:ext cx="14721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5F5F5"/>
                </a:solidFill>
              </a:defRPr>
            </a:pPr>
            <a:r>
              <a:t>IPO readiness demands flawless execution across legal, finance, ops, and investor relations. IPOReady automates the complexity.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1828800"/>
            <a:ext cx="15636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028090"/>
                </a:solidFill>
              </a:defRPr>
            </a:pPr>
            <a:r>
              <a:t>The world's first AI-powered IPO readiness hub. 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137160"/>
            <a:ext cx="15636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</a:defRPr>
            </a:pPr>
            <a:r>
              <a:t>Meet PACE™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384048"/>
            <a:ext cx="156362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28090"/>
                </a:solidFill>
              </a:defRPr>
            </a:pPr>
            <a:r>
              <a:t>Your IPO Velocity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13807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2F3C7E"/>
                </a:solidFill>
              </a:defRPr>
            </a:pPr>
            <a:r>
              <a:t>🎯 Real-time IPO readiness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960120"/>
            <a:ext cx="13807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2F3C7E"/>
                </a:solidFill>
              </a:defRPr>
            </a:pPr>
            <a:r>
              <a:t>📊 Peer benchmarking by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234440"/>
            <a:ext cx="13807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2F3C7E"/>
                </a:solidFill>
              </a:defRPr>
            </a:pPr>
            <a:r>
              <a:t>⚡ Predictive timeline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1508760"/>
            <a:ext cx="138074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2F3C7E"/>
                </a:solidFill>
              </a:defRPr>
            </a:pPr>
            <a:r>
              <a:t>✅ 180+ auto-sequenced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1783080"/>
            <a:ext cx="1563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028090"/>
                </a:solidFill>
              </a:defRPr>
            </a:pPr>
            <a:r>
              <a:t>See exactly how IPO-ready you are.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0"/>
            <a:ext cx="15636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9E795"/>
                </a:solidFill>
              </a:defRPr>
            </a:pPr>
            <a:r>
              <a:t>Cap Table Chaos → AI Clarity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68680"/>
            <a:ext cx="13807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Upload your spreadsheet (yes, messy ones too). IPOReady parses, validates, and flags discrepancies instantly.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1783080"/>
            <a:ext cx="15636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F5F5F5"/>
                </a:solidFill>
              </a:defRPr>
            </a:pPr>
            <a:r>
              <a:t>No spreadsheets. No setup. Just clarity.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46504" cy="1088136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228600"/>
            <a:ext cx="1563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9E795"/>
                </a:solidFill>
              </a:defRPr>
            </a:pPr>
            <a:r>
              <a:t>Documents. Version Control. Compliance.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746504" cy="1088136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234440"/>
            <a:ext cx="13807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2F3C7E"/>
                </a:solidFill>
              </a:defRPr>
            </a:pPr>
            <a:r>
              <a:t>📄 Prospectus builder with AI guidance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463040"/>
            <a:ext cx="13807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2F3C7E"/>
                </a:solidFill>
              </a:defRPr>
            </a:pPr>
            <a:r>
              <a:t>🔒 Secure document workspace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1691640"/>
            <a:ext cx="13807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2F3C7E"/>
                </a:solidFill>
              </a:defRPr>
            </a:pPr>
            <a:r>
              <a:t>🔄 Real-time version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920240"/>
            <a:ext cx="13807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2F3C7E"/>
                </a:solidFill>
              </a:defRPr>
            </a:pPr>
            <a:r>
              <a:t>✓ Compliance checklist auto-scored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E7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28600"/>
            <a:ext cx="15636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E2761"/>
                </a:solidFill>
              </a:defRPr>
            </a:pPr>
            <a:r>
              <a:t>Your IPO Didn't Hire 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548640"/>
            <a:ext cx="156362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2F3C7E"/>
                </a:solidFill>
              </a:defRPr>
            </a:pPr>
            <a:r>
              <a:t>IPOReady Did.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868680"/>
            <a:ext cx="1472184" cy="82296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60120"/>
            <a:ext cx="128930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9E795"/>
                </a:solidFill>
              </a:defRPr>
            </a:pPr>
            <a:r>
              <a:t>👥 Pre-vetted legal, finance &amp; ops experts</a:t>
            </a:r>
          </a:p>
          <a:p>
            <a:r>
              <a:t>⏱ On-demand advising</a:t>
            </a:r>
          </a:p>
          <a:p>
            <a:r>
              <a:t>🎯 Exchange-specific guidance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1828800"/>
            <a:ext cx="15636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2F3C7E"/>
                </a:solidFill>
              </a:defRPr>
            </a:pPr>
            <a:r>
              <a:t>60% coordination overhead eliminated.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182880"/>
            <a:ext cx="15636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9E795"/>
                </a:solidFill>
              </a:defRPr>
            </a:pPr>
            <a:r>
              <a:t>Ready for Go Public?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548640"/>
            <a:ext cx="156362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28090"/>
                </a:solidFill>
              </a:defRPr>
            </a:pPr>
            <a:r>
              <a:t>7 Exchanges. 4 Listing Types. 1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868680"/>
            <a:ext cx="156362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TSX | TSXV | CSE | NASDAQ | NYSE | OTC | Cboe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97864" cy="457200"/>
          </a:xfrm>
          <a:prstGeom prst="rect">
            <a:avLst/>
          </a:prstGeom>
          <a:solidFill>
            <a:srgbClr val="028090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98448"/>
            <a:ext cx="1197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Start Your IPO Readiness Score — 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" y="1828800"/>
            <a:ext cx="156362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9E795"/>
                </a:solidFill>
              </a:defRPr>
            </a:pPr>
            <a:r>
              <a:t>ipoready.io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